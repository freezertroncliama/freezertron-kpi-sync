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Preventivas</c:v>
                </c:pt>
              </c:strCache>
            </c:strRef>
          </c:tx>
          <c:spPr>
            <a:solidFill>
              <a:srgbClr val="1CA4E0"/>
            </a:solidFill>
            <a:ln w="31750" cap="flat">
              <a:solidFill>
                <a:srgbClr val="1CA4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A4E0"/>
              </a:solidFill>
              <a:ln w="9525" cap="flat">
                <a:solidFill>
                  <a:srgbClr val="1CA4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Apr/26</c:v>
                  </c:pt>
                  <c:pt idx="1">
                    <c:v>May/26</c:v>
                  </c:pt>
                  <c:pt idx="2">
                    <c:v>Jun/26</c:v>
                  </c:pt>
                  <c:pt idx="3">
                    <c:v>Jul/26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70</c:v>
                </c:pt>
                <c:pt idx="2">
                  <c:v>91</c:v>
                </c:pt>
                <c:pt idx="3">
                  <c:v>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Corretivas</c:v>
                </c:pt>
              </c:strCache>
            </c:strRef>
          </c:tx>
          <c:spPr>
            <a:solidFill>
              <a:srgbClr val="E8604C"/>
            </a:solidFill>
            <a:ln w="31750" cap="flat">
              <a:solidFill>
                <a:srgbClr val="E860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04C"/>
              </a:solidFill>
              <a:ln w="9525" cap="flat">
                <a:solidFill>
                  <a:srgbClr val="E860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Apr/26</c:v>
                  </c:pt>
                  <c:pt idx="1">
                    <c:v>May/26</c:v>
                  </c:pt>
                  <c:pt idx="2">
                    <c:v>Jun/26</c:v>
                  </c:pt>
                  <c:pt idx="3">
                    <c:v>Jul/26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1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9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2E4166"/>
          </a:solidFill>
          <a:ln/>
        </p:spPr>
      </p:sp>
      <p:pic>
        <p:nvPicPr>
          <p:cNvPr id="3" name="Image 0" descr="logo_pinguim.png">    </p:cNvPr>
          <p:cNvPicPr>
            <a:picLocks noChangeAspect="1"/>
          </p:cNvPicPr>
          <p:nvPr/>
        </p:nvPicPr>
        <p:blipFill>
          <a:blip r:embed="rId1"/>
          <a:srcRect l="0" r="0" t="-23829" b="-23829"/>
          <a:stretch/>
        </p:blipFill>
        <p:spPr>
          <a:xfrm>
            <a:off x="8503920" y="548640"/>
            <a:ext cx="2926080" cy="5303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C229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801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PMOC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94360" y="173736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de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— PMOC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Mangels S/A — Refrigeração Aços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instalada: 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equipamentos
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Competência: </a:t>
            </a:r>
            <a:pPr indent="0" marL="0">
              <a:lnSpc>
                <a:spcPct val="140000"/>
              </a:lnSpc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Climatização e Refrigeração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C2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Freezertron: mantendo o frio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sustenta a operação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relatório apresenta as atividades executadas no período referente ao Plano de Manutenção, Operação e Controle (PMOC), contemplando manutenção preventiva, corretiva e inspeções técnicas dos sistemas de climatização e refrigeração da unidade Mangels S/A.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conformidade legal e sanitária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desempenho operacional dos equipamentos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falhas e paradas não programadas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eficiência energética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Assegurar conforto térmico e qualidade do ar interior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C2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em jogo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PMOC falhar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regulatórios, operacionais e de saúde ocupacional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10789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regulatório e de saúde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Multas, interdição e impacto na saúde ocupacional por má qualidade do ar (Lei 13.589/2018).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65176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28163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não planejadas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32004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falhas e perda de produtividade quando a preventiva não acompanha a demanda.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4389120"/>
            <a:ext cx="5852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455371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sanitário identificado nesta competência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49377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bebedouro(s) com troca de filtro vencida há mais de 288 dias — ver detalhe no fim do relatório.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C2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PMOC: visão geral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do escopo contratual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Assistidos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condicionados, bebedouros e chillers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Atendidos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2628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industrial — operação 24x7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 no Ano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7532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até a competência atual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434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sobre indicadores regulatórios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Autuações/notificações regulatórias não são rastreadas nesta fonte de dados (Nextcloud/Produttivo) — esse indicador precisa ser preenchido manualmente pela equipe responsável, se aplicável.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C2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GERAIS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Preventiva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de cumprimento — calculado pela periodicidade real de cada equipamento (mensal, trimestral ou semanal, lida do próprio relatório de PMOC), não por um corte fixo de calendário.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no Contrato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 com a Preventiva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971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Cumprimento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971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por categoria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 — 46/60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5175504"/>
            <a:ext cx="7223760" cy="201168"/>
          </a:xfrm>
          <a:prstGeom prst="roundRect">
            <a:avLst>
              <a:gd name="adj" fmla="val 45455"/>
            </a:avLst>
          </a:prstGeom>
          <a:solidFill>
            <a:srgbClr val="EEF2F9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5175504"/>
            <a:ext cx="5538216" cy="201168"/>
          </a:xfrm>
          <a:prstGeom prst="roundRect">
            <a:avLst>
              <a:gd name="adj" fmla="val 45455"/>
            </a:avLst>
          </a:prstGeom>
          <a:solidFill>
            <a:srgbClr val="1CA4E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04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BEBEDOUROS — 19/29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5559552"/>
            <a:ext cx="7223760" cy="201168"/>
          </a:xfrm>
          <a:prstGeom prst="roundRect">
            <a:avLst>
              <a:gd name="adj" fmla="val 45455"/>
            </a:avLst>
          </a:prstGeom>
          <a:solidFill>
            <a:srgbClr val="EEF2F9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0" y="5559552"/>
            <a:ext cx="4732808" cy="201168"/>
          </a:xfrm>
          <a:prstGeom prst="roundRect">
            <a:avLst>
              <a:gd name="adj" fmla="val 45455"/>
            </a:avLst>
          </a:prstGeom>
          <a:solidFill>
            <a:srgbClr val="1CA4E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8887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CHILLER´S — 4/15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0" y="5943600"/>
            <a:ext cx="7223760" cy="201168"/>
          </a:xfrm>
          <a:prstGeom prst="roundRect">
            <a:avLst>
              <a:gd name="adj" fmla="val 45455"/>
            </a:avLst>
          </a:prstGeom>
          <a:solidFill>
            <a:srgbClr val="EEF2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0" y="5943600"/>
            <a:ext cx="1926336" cy="201168"/>
          </a:xfrm>
          <a:prstGeom prst="roundRect">
            <a:avLst>
              <a:gd name="adj" fmla="val 45455"/>
            </a:avLst>
          </a:prstGeom>
          <a:solidFill>
            <a:srgbClr val="1CA4E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C2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GERAIS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Corretiva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dos principais indicadores de confiabilidade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Corretivas no Mês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297680" y="22860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Reincidências no Ano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7889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2628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dias entre corretivas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Médio (mês)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N/D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7532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corretiva(s) sem horário de início/fim registrado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Corretivas do Mês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chamado(s) corretivo(s) em July 2026 — atenção prioritária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9319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B015 - ACABAMENTO BOTIJÃO 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Acabamento Botijão 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16/07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B027 - CARCAÇA DE FILTRO USO DO REFEITÓRIO COZINHA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Carcaça De Filtro Uso Do Refeitório Cozinha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B024 - BEBEDOURO TP COLUNA SALA COORDENAÇÃO BOTIJÃO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 Tp Coluna Sala Coordenação Botijão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Preventivas do Mês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manutenção(ões) preventiva(s) realizada(s) em July 2026, por categoria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1F3F8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preventivas concluídas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1F3F8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BEBEDOUROS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preventivas concluídas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1F3F8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CHILLER´S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A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36676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preventivas concluídas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por equipamento disponível no painel interno (/kpi-manutencao).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Mais Problemáticos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horas corretivas acumuladas em 2026 — candidatos a avaliação de troca/retrofit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A127 - SALA MANUTENÇÃO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1920240"/>
            <a:ext cx="5486400" cy="274320"/>
          </a:xfrm>
          <a:prstGeom prst="roundRect">
            <a:avLst>
              <a:gd name="adj" fmla="val 33333"/>
            </a:avLst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920240"/>
            <a:ext cx="5486400" cy="274320"/>
          </a:xfrm>
          <a:prstGeom prst="roundRect">
            <a:avLst>
              <a:gd name="adj" fmla="val 33333"/>
            </a:avLst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0" y="19019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2.4h · 6 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A152 - SALA VIP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98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697480"/>
            <a:ext cx="5486400" cy="274320"/>
          </a:xfrm>
          <a:prstGeom prst="roundRect">
            <a:avLst>
              <a:gd name="adj" fmla="val 33333"/>
            </a:avLst>
          </a:prstGeom>
          <a:solidFill>
            <a:srgbClr val="EEF2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2697480"/>
            <a:ext cx="5252936" cy="274320"/>
          </a:xfrm>
          <a:prstGeom prst="roundRect">
            <a:avLst>
              <a:gd name="adj" fmla="val 33333"/>
            </a:avLst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0" y="26791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2.3h · 1 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A122 - CONSULTÓRIO MÉDICO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474720"/>
            <a:ext cx="5486400" cy="274320"/>
          </a:xfrm>
          <a:prstGeom prst="roundRect">
            <a:avLst>
              <a:gd name="adj" fmla="val 33333"/>
            </a:avLst>
          </a:prstGeom>
          <a:solidFill>
            <a:srgbClr val="EEF2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3474720"/>
            <a:ext cx="3891064" cy="274320"/>
          </a:xfrm>
          <a:prstGeom prst="roundRect">
            <a:avLst>
              <a:gd name="adj" fmla="val 33333"/>
            </a:avLst>
          </a:prstGeom>
          <a:solidFill>
            <a:srgbClr val="E8604C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0" y="34564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1.7h · 1 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A101 - SALA DE REUNIÃO 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4531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4251960"/>
            <a:ext cx="5486400" cy="274320"/>
          </a:xfrm>
          <a:prstGeom prst="roundRect">
            <a:avLst>
              <a:gd name="adj" fmla="val 33333"/>
            </a:avLst>
          </a:prstGeom>
          <a:solidFill>
            <a:srgbClr val="EEF2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4251960"/>
            <a:ext cx="2801566" cy="274320"/>
          </a:xfrm>
          <a:prstGeom prst="roundRect">
            <a:avLst>
              <a:gd name="adj" fmla="val 33333"/>
            </a:avLst>
          </a:prstGeom>
          <a:solidFill>
            <a:srgbClr val="E8604C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0" y="42336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1.2h · 1 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937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C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97280" y="4937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A100 - SALA DE REUNIÃO 01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5230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5029200"/>
            <a:ext cx="5486400" cy="274320"/>
          </a:xfrm>
          <a:prstGeom prst="roundRect">
            <a:avLst>
              <a:gd name="adj" fmla="val 33333"/>
            </a:avLst>
          </a:prstGeom>
          <a:solidFill>
            <a:srgbClr val="EEF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5029200"/>
            <a:ext cx="137160" cy="274320"/>
          </a:xfrm>
          <a:prstGeom prst="roundRect">
            <a:avLst>
              <a:gd name="adj" fmla="val 66667"/>
            </a:avLst>
          </a:prstGeom>
          <a:solidFill>
            <a:srgbClr val="E8604C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0" y="50109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0.0h · 1 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Reincidência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com mais de uma corretiva em intervalo ≤ 30 dias — possível reparo mal resolvido ou fim de vida útil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2286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Corretivas no 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intervalo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CONDICIONADOS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A138 - QUALIDADE SALA DE TESTE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CONDICIONADOS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A154 - ACJ QUALIDADE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B007 - PORTARIA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B026 - BEBEDOURO TP COLUNA SALA DE TREINAMENTO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CONDICIONADOS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A127 - SALA MANUTENÇÃO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CONDICIONADOS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A145 - SALA DE COORDENAÇÃO DE BOTIJÕES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B023 - BEBEDOURO 200L FABRICAÇÃO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BEBEDOUROS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B013 - SOLDA CIRCULAR 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60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Filtros de Bebedouro Vencidos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sanitário/regulatório — troca de filtro em atraso, sem estimativa: data lida direto do checklist do Produttivo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822960"/>
          </a:xfrm>
          <a:prstGeom prst="roundRect">
            <a:avLst/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B017 - BEBEDOURO GALÃO SALA DE ARQUIVOS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substituição prevista: 15/10/2025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288d atrasado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834640"/>
            <a:ext cx="109728" cy="822960"/>
          </a:xfrm>
          <a:prstGeom prst="roundRect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443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B007 - PORTARIA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substituição prevista: 06/12/2025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236d atrasado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— Últimos Meses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Preventivas x corretivas ao longo de 2025-2026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do Mês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equipamento(s) ainda fora do prazo esperado de preventiva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CONDICIONADOS (14)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429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A105 - SALA DE REUNIÃO — 21d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A108 - FISCAL — 21d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A111 - SUPRIMENTOS — 21d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A113 - SALA CSA — Nunca teve preventiva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A118 - AUDITÓRIO 01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A119 - AUDITÓRIO 02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A147 - SALA DE TI 01 — 23d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A149 - SALA DE TI 02 — 23d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A150 - SALA TÚNEL DO TEMPO — Nunca teve preventiva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A151 - SALA TÚNEL DO TEMPO 01 — Nunca teve preventiva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A152 - SALA VIP — 56d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A153 - SALA BEM ESTAR — Nunca teve preventiva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3093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outro(s)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BEBEDOUROS (10)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057400"/>
            <a:ext cx="3429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B002 - PURIFICADOR CDM — 38d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B006 - AUDITÓRIO — 15d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B008 - RH — 10d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B011 - COORDENAÇÃO DE CILINDROS — 14d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B018 - BEBEDOURO TP COLUNA QUALIDADE — 14d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B019 - BEBEDOURO TP COLUNA LABORATÓRIO DE RUPTURA — 15d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B021 - BEBEDURO TP COLUNA ALMOXARIFADO — 14d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B025 - SALA DE TREINAMENTO — 17d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B026 - BEBEDOURO TP COLUNA SALA DE TREINAMENTO — 16d atrasado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B028 - ESPAÇO BEM STAR — Nunca teve preventiva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CHILLER´S (11)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2057400"/>
            <a:ext cx="3429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303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304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305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306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307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308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309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311 — Sem preventiva no 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312 — Nunca teve preventiva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313 — Nunca teve preventiva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314 — Nunca teve preventiva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[RASCUNHO — revisar antes de enviar ao cliente]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July 2026, 69 manutenções preventivas e 3 corretivas foram realizadas nos 104 equipamentos sob contrato, resultando em 66% de cumprimento geral da periodicidade de PMOC.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que exigem atenção da equipe técnica: 8 equipamento(s) com reincidência de falha no ano, 2 bebedouro(s) com troca de filtro vencida, e 35 equipamento(s) ainda fora do prazo de preventiva — detalhados nas seções anteriores.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Freezertron · Relatório PMOC ·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2026-07-31T02:51:19Z</dcterms:created>
  <dcterms:modified xsi:type="dcterms:W3CDTF">2026-07-31T02:51:19Z</dcterms:modified>
</cp:coreProperties>
</file>